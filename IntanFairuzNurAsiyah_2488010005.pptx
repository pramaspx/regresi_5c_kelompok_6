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oboto Condensed Bold" charset="1" panose="02000000000000000000"/>
      <p:regular r:id="rId13"/>
    </p:embeddedFont>
    <p:embeddedFont>
      <p:font typeface="Roboto" charset="1" panose="02000000000000000000"/>
      <p:regular r:id="rId14"/>
    </p:embeddedFont>
    <p:embeddedFont>
      <p:font typeface="Roboto Condensed" charset="1" panose="02000000000000000000"/>
      <p:regular r:id="rId15"/>
    </p:embeddedFont>
    <p:embeddedFont>
      <p:font typeface="Roboto Bold" charset="1" panose="02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47196" y="0"/>
            <a:ext cx="6540804" cy="10287000"/>
          </a:xfrm>
          <a:custGeom>
            <a:avLst/>
            <a:gdLst/>
            <a:ahLst/>
            <a:cxnLst/>
            <a:rect r="r" b="b" t="t" l="l"/>
            <a:pathLst>
              <a:path h="10287000" w="6540804">
                <a:moveTo>
                  <a:pt x="0" y="0"/>
                </a:moveTo>
                <a:lnTo>
                  <a:pt x="6540804" y="0"/>
                </a:lnTo>
                <a:lnTo>
                  <a:pt x="6540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9171" y="1698286"/>
            <a:ext cx="5807853" cy="151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0"/>
              </a:lnSpc>
            </a:pPr>
            <a:r>
              <a:rPr lang="en-US" sz="11490" b="true">
                <a:solidFill>
                  <a:srgbClr val="F66F21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PREDIKSI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009" y="3144127"/>
            <a:ext cx="4324138" cy="151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0"/>
              </a:lnSpc>
            </a:pPr>
            <a:r>
              <a:rPr lang="en-US" sz="11490" b="true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HARGA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7430" y="4595482"/>
            <a:ext cx="7982039" cy="146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0"/>
              </a:lnSpc>
            </a:pPr>
            <a:r>
              <a:rPr lang="en-US" sz="11070" b="true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MOBIL BEKAS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19882" y="7173198"/>
            <a:ext cx="1531292" cy="229572"/>
          </a:xfrm>
          <a:custGeom>
            <a:avLst/>
            <a:gdLst/>
            <a:ahLst/>
            <a:cxnLst/>
            <a:rect r="r" b="b" t="t" l="l"/>
            <a:pathLst>
              <a:path h="229572" w="1531292">
                <a:moveTo>
                  <a:pt x="0" y="0"/>
                </a:moveTo>
                <a:lnTo>
                  <a:pt x="1531292" y="0"/>
                </a:lnTo>
                <a:lnTo>
                  <a:pt x="1531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8814" y="7659945"/>
            <a:ext cx="5843626" cy="32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2478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Dataset CAR DETAILS FROM CAR DEKHO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9882" y="8254890"/>
            <a:ext cx="3736761" cy="40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3036">
                <a:solidFill>
                  <a:srgbClr val="F66F21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Kelompok 6 </a:t>
            </a:r>
            <a:r>
              <a:rPr lang="en-US" sz="3036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| Regresi 5C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3398" y="6695469"/>
            <a:ext cx="5843626" cy="32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2478">
                <a:solidFill>
                  <a:srgbClr val="FFFFFF">
                    <a:alpha val="9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Intan Fairuz Nur Asiyah - 2488010005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0"/>
            <a:ext cx="4156364" cy="10287000"/>
          </a:xfrm>
          <a:custGeom>
            <a:avLst/>
            <a:gdLst/>
            <a:ahLst/>
            <a:cxnLst/>
            <a:rect r="r" b="b" t="t" l="l"/>
            <a:pathLst>
              <a:path h="10287000" w="4156364">
                <a:moveTo>
                  <a:pt x="0" y="0"/>
                </a:moveTo>
                <a:lnTo>
                  <a:pt x="4156364" y="0"/>
                </a:lnTo>
                <a:lnTo>
                  <a:pt x="415636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4095407">
            <a:off x="10535566" y="3088335"/>
            <a:ext cx="5485169" cy="351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81"/>
              </a:lnSpc>
            </a:pPr>
            <a:r>
              <a:rPr lang="en-US" b="true" sz="26481" spc="-530">
                <a:solidFill>
                  <a:srgbClr val="F474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3649" y="2860406"/>
            <a:ext cx="4681205" cy="644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862" b="true">
                <a:solidFill>
                  <a:srgbClr val="F0F0F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Gambaran 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7024" y="4059635"/>
            <a:ext cx="8343741" cy="4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Dataset </a:t>
            </a:r>
            <a:r>
              <a:rPr lang="en-US" sz="2654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bersih dan siap dianalisis</a:t>
            </a: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, tanpa nilai kosong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4860" y="4827737"/>
            <a:ext cx="8560096" cy="4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4.340 </a:t>
            </a: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baris data dan </a:t>
            </a:r>
            <a:r>
              <a:rPr lang="en-US" sz="2654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8 </a:t>
            </a: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kolom (3 numerik, 5 kategorikal)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6270" y="5565719"/>
            <a:ext cx="2419120" cy="4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0 </a:t>
            </a: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missing value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2511" y="6318761"/>
            <a:ext cx="10795037" cy="40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623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selling_price: rata-rata </a:t>
            </a:r>
            <a:r>
              <a:rPr lang="en-US" sz="2623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504.127</a:t>
            </a:r>
            <a:r>
              <a:rPr lang="en-US" sz="2623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, median </a:t>
            </a:r>
            <a:r>
              <a:rPr lang="en-US" sz="2623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350.000</a:t>
            </a:r>
            <a:r>
              <a:rPr lang="en-US" sz="2623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, maksimum </a:t>
            </a:r>
            <a:r>
              <a:rPr lang="en-US" sz="2623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8.900.000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5521" y="7086864"/>
            <a:ext cx="7494005" cy="4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km-driven: rata-rata </a:t>
            </a:r>
            <a:r>
              <a:rPr lang="en-US" sz="2654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66.216</a:t>
            </a: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, maksimum </a:t>
            </a:r>
            <a:r>
              <a:rPr lang="en-US" sz="2654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806.599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0962" y="7839906"/>
            <a:ext cx="5949854" cy="4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year: </a:t>
            </a:r>
            <a:r>
              <a:rPr lang="en-US" sz="2654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1992 </a:t>
            </a: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sampai </a:t>
            </a:r>
            <a:r>
              <a:rPr lang="en-US" sz="2654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2020</a:t>
            </a: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, median </a:t>
            </a:r>
            <a:r>
              <a:rPr lang="en-US" sz="2654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2014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366" y="8592948"/>
            <a:ext cx="8809527" cy="4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F0F0F0"/>
                </a:solidFill>
                <a:latin typeface="Roboto"/>
                <a:ea typeface="Roboto"/>
                <a:cs typeface="Roboto"/>
                <a:sym typeface="Roboto"/>
              </a:rPr>
              <a:t>Kategorikal: </a:t>
            </a:r>
            <a:r>
              <a:rPr lang="en-US" sz="2654" b="true">
                <a:solidFill>
                  <a:srgbClr val="F47427"/>
                </a:solidFill>
                <a:latin typeface="Roboto Bold"/>
                <a:ea typeface="Roboto Bold"/>
                <a:cs typeface="Roboto Bold"/>
                <a:sym typeface="Roboto Bold"/>
              </a:rPr>
              <a:t>name, fuel, seller_type, transmission, owner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7732" y="0"/>
            <a:ext cx="9800268" cy="4930326"/>
          </a:xfrm>
          <a:custGeom>
            <a:avLst/>
            <a:gdLst/>
            <a:ahLst/>
            <a:cxnLst/>
            <a:rect r="r" b="b" t="t" l="l"/>
            <a:pathLst>
              <a:path h="4930326" w="9800268">
                <a:moveTo>
                  <a:pt x="0" y="0"/>
                </a:moveTo>
                <a:lnTo>
                  <a:pt x="9800268" y="0"/>
                </a:lnTo>
                <a:lnTo>
                  <a:pt x="9800268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83263" y="5014145"/>
            <a:ext cx="9304737" cy="5271178"/>
          </a:xfrm>
          <a:custGeom>
            <a:avLst/>
            <a:gdLst/>
            <a:ahLst/>
            <a:cxnLst/>
            <a:rect r="r" b="b" t="t" l="l"/>
            <a:pathLst>
              <a:path h="5271178" w="9304737">
                <a:moveTo>
                  <a:pt x="0" y="0"/>
                </a:moveTo>
                <a:lnTo>
                  <a:pt x="9304737" y="0"/>
                </a:lnTo>
                <a:lnTo>
                  <a:pt x="9304737" y="5271179"/>
                </a:lnTo>
                <a:lnTo>
                  <a:pt x="0" y="52711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25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2950" y="5014145"/>
            <a:ext cx="8108688" cy="5271178"/>
          </a:xfrm>
          <a:custGeom>
            <a:avLst/>
            <a:gdLst/>
            <a:ahLst/>
            <a:cxnLst/>
            <a:rect r="r" b="b" t="t" l="l"/>
            <a:pathLst>
              <a:path h="5271178" w="8108688">
                <a:moveTo>
                  <a:pt x="0" y="0"/>
                </a:moveTo>
                <a:lnTo>
                  <a:pt x="8108688" y="0"/>
                </a:lnTo>
                <a:lnTo>
                  <a:pt x="8108688" y="5271179"/>
                </a:lnTo>
                <a:lnTo>
                  <a:pt x="0" y="52711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6265" y="798688"/>
            <a:ext cx="2740707" cy="169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1"/>
              </a:lnSpc>
            </a:pPr>
            <a:r>
              <a:rPr lang="en-US" sz="12751" b="true">
                <a:solidFill>
                  <a:srgbClr val="F2782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915" y="2423407"/>
            <a:ext cx="7633503" cy="6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F4F4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Distribusi Harga dan Korelasi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852" y="3412019"/>
            <a:ext cx="7539786" cy="38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Rata-rata harga jauh di atas median, tanda sebaran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8868" y="3954209"/>
            <a:ext cx="2838225" cy="38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true">
                <a:solidFill>
                  <a:srgbClr val="F2782F"/>
                </a:solidFill>
                <a:latin typeface="Roboto Bold"/>
                <a:ea typeface="Roboto Bold"/>
                <a:cs typeface="Roboto Bold"/>
                <a:sym typeface="Roboto Bold"/>
              </a:rPr>
              <a:t>condong ke kanan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6054" y="1698286"/>
            <a:ext cx="8082912" cy="151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0"/>
              </a:lnSpc>
            </a:pPr>
            <a:r>
              <a:rPr lang="en-US" sz="11490" spc="-342" b="true">
                <a:solidFill>
                  <a:srgbClr val="E84C0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Preprocessing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4285339"/>
            <a:ext cx="3281340" cy="4296271"/>
          </a:xfrm>
          <a:custGeom>
            <a:avLst/>
            <a:gdLst/>
            <a:ahLst/>
            <a:cxnLst/>
            <a:rect r="r" b="b" t="t" l="l"/>
            <a:pathLst>
              <a:path h="4296271" w="3281340">
                <a:moveTo>
                  <a:pt x="0" y="0"/>
                </a:moveTo>
                <a:lnTo>
                  <a:pt x="3281340" y="0"/>
                </a:lnTo>
                <a:lnTo>
                  <a:pt x="3281340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64624" y="4810576"/>
            <a:ext cx="693888" cy="65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992" spc="-148" b="true">
                <a:solidFill>
                  <a:srgbClr val="E84C0C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3206" y="5598626"/>
            <a:ext cx="1835604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2"/>
              </a:lnSpc>
            </a:pPr>
            <a:r>
              <a:rPr lang="en-US" sz="2285" spc="-68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Rekayasa Fitur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1562" y="6322137"/>
            <a:ext cx="2732484" cy="102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69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year diubah menjadi Vehicle_Age = 2026 - year, kolom year dihapus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696976" y="599072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34488" y="4285339"/>
            <a:ext cx="3707914" cy="4296271"/>
          </a:xfrm>
          <a:custGeom>
            <a:avLst/>
            <a:gdLst/>
            <a:ahLst/>
            <a:cxnLst/>
            <a:rect r="r" b="b" t="t" l="l"/>
            <a:pathLst>
              <a:path h="4296271" w="3707914">
                <a:moveTo>
                  <a:pt x="0" y="0"/>
                </a:moveTo>
                <a:lnTo>
                  <a:pt x="3707914" y="0"/>
                </a:lnTo>
                <a:lnTo>
                  <a:pt x="370791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93624" y="4810576"/>
            <a:ext cx="693888" cy="65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992" spc="-148" b="true">
                <a:solidFill>
                  <a:srgbClr val="E84C0C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74131" y="5598626"/>
            <a:ext cx="2643147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2"/>
              </a:lnSpc>
            </a:pPr>
            <a:r>
              <a:rPr lang="en-US" sz="2285" spc="-68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Encoding Kategorikal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00562" y="6491711"/>
            <a:ext cx="3214688" cy="68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69">
                <a:solidFill>
                  <a:srgbClr val="FFFFFF">
                    <a:alpha val="80000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one-hot encoding (drop_first) pada name, fuel, seller_type,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00562" y="7513616"/>
            <a:ext cx="3214688" cy="33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spc="-6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menghasilkan </a:t>
            </a:r>
            <a:r>
              <a:rPr lang="en-US" sz="2188" spc="-65" b="true">
                <a:solidFill>
                  <a:srgbClr val="E84C0C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1.503</a:t>
            </a:r>
            <a:r>
              <a:rPr lang="en-US" sz="2188" spc="-6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fitur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393952" y="5990729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31464" y="4285339"/>
            <a:ext cx="3062584" cy="4296271"/>
          </a:xfrm>
          <a:custGeom>
            <a:avLst/>
            <a:gdLst/>
            <a:ahLst/>
            <a:cxnLst/>
            <a:rect r="r" b="b" t="t" l="l"/>
            <a:pathLst>
              <a:path h="4296271" w="3062584">
                <a:moveTo>
                  <a:pt x="0" y="0"/>
                </a:moveTo>
                <a:lnTo>
                  <a:pt x="3062584" y="0"/>
                </a:lnTo>
                <a:lnTo>
                  <a:pt x="306258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97670" y="4810576"/>
            <a:ext cx="693888" cy="65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992" spc="-148" b="true">
                <a:solidFill>
                  <a:srgbClr val="E84C0C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92610" y="5598626"/>
            <a:ext cx="1199977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2"/>
              </a:lnSpc>
            </a:pPr>
            <a:r>
              <a:rPr lang="en-US" sz="2285" spc="-68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Split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04609" y="6328829"/>
            <a:ext cx="2732484" cy="65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spc="-6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Split data 80:20</a:t>
            </a:r>
          </a:p>
          <a:p>
            <a:pPr algn="l">
              <a:lnSpc>
                <a:spcPts val="2626"/>
              </a:lnSpc>
            </a:pPr>
            <a:r>
              <a:rPr lang="en-US" sz="2188" spc="-6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random_state = 42)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04609" y="7217419"/>
            <a:ext cx="2732484" cy="65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spc="-65" b="true">
                <a:solidFill>
                  <a:srgbClr val="E84C0C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3.472</a:t>
            </a:r>
            <a:r>
              <a:rPr lang="en-US" sz="2188" spc="-6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data latih</a:t>
            </a:r>
          </a:p>
          <a:p>
            <a:pPr algn="l">
              <a:lnSpc>
                <a:spcPts val="2626"/>
              </a:lnSpc>
            </a:pPr>
            <a:r>
              <a:rPr lang="en-US" sz="2188" spc="-65" b="true">
                <a:solidFill>
                  <a:srgbClr val="E84C0C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868</a:t>
            </a:r>
            <a:r>
              <a:rPr lang="en-US" sz="2188" spc="-6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data uji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77456" y="958773"/>
            <a:ext cx="7933089" cy="91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1"/>
              </a:lnSpc>
            </a:pPr>
            <a:r>
              <a:rPr lang="en-US" sz="6791" spc="-202" b="true">
                <a:solidFill>
                  <a:srgbClr val="E8670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Model Regresi Linear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87567" y="1812619"/>
            <a:ext cx="8635686" cy="46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Memprediksi selling_price dari spesifikasi kendaraan.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45330" y="2776725"/>
            <a:ext cx="8072096" cy="2153601"/>
            <a:chOff x="0" y="0"/>
            <a:chExt cx="10762794" cy="28714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62794" cy="2871469"/>
            </a:xfrm>
            <a:custGeom>
              <a:avLst/>
              <a:gdLst/>
              <a:ahLst/>
              <a:cxnLst/>
              <a:rect r="r" b="b" t="t" l="l"/>
              <a:pathLst>
                <a:path h="2871469" w="10762794">
                  <a:moveTo>
                    <a:pt x="0" y="0"/>
                  </a:moveTo>
                  <a:lnTo>
                    <a:pt x="10762794" y="0"/>
                  </a:lnTo>
                  <a:lnTo>
                    <a:pt x="10762794" y="2871469"/>
                  </a:lnTo>
                  <a:lnTo>
                    <a:pt x="0" y="2871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717900" y="974821"/>
              <a:ext cx="2900358" cy="1259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5"/>
                </a:lnSpc>
              </a:pPr>
              <a:r>
                <a:rPr lang="en-US" sz="6845" spc="-203" b="true">
                  <a:solidFill>
                    <a:srgbClr val="E8670D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1.503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261273" y="771396"/>
              <a:ext cx="5750548" cy="1558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3"/>
                </a:lnSpc>
              </a:pPr>
              <a:r>
                <a:rPr lang="en-US" sz="2351" b="true">
                  <a:solidFill>
                    <a:srgbClr val="FFFFFF">
                      <a:alpha val="84706"/>
                    </a:srgbClr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Fitur (X):</a:t>
              </a:r>
            </a:p>
            <a:p>
              <a:pPr algn="l">
                <a:lnSpc>
                  <a:spcPts val="3173"/>
                </a:lnSpc>
              </a:pPr>
              <a:r>
                <a:rPr lang="en-US" sz="2351">
                  <a:solidFill>
                    <a:srgbClr val="FFFFFF">
                      <a:alpha val="84706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kolom hasil encoding termasuk kmDriven dan Vehicle_Age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187204" y="4441020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45330" y="7280704"/>
            <a:ext cx="8072096" cy="2153601"/>
            <a:chOff x="0" y="0"/>
            <a:chExt cx="10762794" cy="2871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2794" cy="2871469"/>
            </a:xfrm>
            <a:custGeom>
              <a:avLst/>
              <a:gdLst/>
              <a:ahLst/>
              <a:cxnLst/>
              <a:rect r="r" b="b" t="t" l="l"/>
              <a:pathLst>
                <a:path h="2871469" w="10762794">
                  <a:moveTo>
                    <a:pt x="0" y="0"/>
                  </a:moveTo>
                  <a:lnTo>
                    <a:pt x="10762794" y="0"/>
                  </a:lnTo>
                  <a:lnTo>
                    <a:pt x="10762794" y="2871469"/>
                  </a:lnTo>
                  <a:lnTo>
                    <a:pt x="0" y="2871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717900" y="758252"/>
              <a:ext cx="2900358" cy="1259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5"/>
                </a:lnSpc>
              </a:pPr>
              <a:r>
                <a:rPr lang="en-US" sz="6845" spc="-203" b="true">
                  <a:solidFill>
                    <a:srgbClr val="E8670D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3.472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256937" y="514665"/>
              <a:ext cx="6184204" cy="1558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3"/>
                </a:lnSpc>
              </a:pPr>
              <a:r>
                <a:rPr lang="en-US" sz="2351" b="true">
                  <a:solidFill>
                    <a:srgbClr val="FFFFFF">
                      <a:alpha val="84706"/>
                    </a:srgbClr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Model:</a:t>
              </a:r>
            </a:p>
            <a:p>
              <a:pPr algn="l">
                <a:lnSpc>
                  <a:spcPts val="3173"/>
                </a:lnSpc>
              </a:pPr>
              <a:r>
                <a:rPr lang="en-US" sz="2351">
                  <a:solidFill>
                    <a:srgbClr val="FFFFFF">
                      <a:alpha val="84706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LinearRegression dari scikit-learn, dilatih pada baris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45330" y="7280704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187204" y="4280283"/>
            <a:ext cx="8072096" cy="2153601"/>
            <a:chOff x="0" y="0"/>
            <a:chExt cx="10762794" cy="28714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62794" cy="2871469"/>
            </a:xfrm>
            <a:custGeom>
              <a:avLst/>
              <a:gdLst/>
              <a:ahLst/>
              <a:cxnLst/>
              <a:rect r="r" b="b" t="t" l="l"/>
              <a:pathLst>
                <a:path h="2871469" w="10762794">
                  <a:moveTo>
                    <a:pt x="0" y="0"/>
                  </a:moveTo>
                  <a:lnTo>
                    <a:pt x="10762794" y="0"/>
                  </a:lnTo>
                  <a:lnTo>
                    <a:pt x="10762794" y="2871469"/>
                  </a:lnTo>
                  <a:lnTo>
                    <a:pt x="0" y="2871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798916" y="853284"/>
              <a:ext cx="1942487" cy="1259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5"/>
                </a:lnSpc>
              </a:pPr>
              <a:r>
                <a:rPr lang="en-US" sz="6845" spc="-203" b="true">
                  <a:solidFill>
                    <a:srgbClr val="E8670D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868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266010" y="589616"/>
              <a:ext cx="5276862" cy="1558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3"/>
                </a:lnSpc>
              </a:pPr>
              <a:r>
                <a:rPr lang="en-US" sz="2351" b="true">
                  <a:solidFill>
                    <a:srgbClr val="FFFFFF">
                      <a:alpha val="84706"/>
                    </a:srgbClr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Target (y):</a:t>
              </a:r>
            </a:p>
            <a:p>
              <a:pPr algn="l">
                <a:lnSpc>
                  <a:spcPts val="3173"/>
                </a:lnSpc>
              </a:pPr>
              <a:r>
                <a:rPr lang="en-US" sz="2351">
                  <a:solidFill>
                    <a:srgbClr val="FFFFFF">
                      <a:alpha val="84706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selling_price, diprediksi pada</a:t>
              </a:r>
            </a:p>
            <a:p>
              <a:pPr algn="l">
                <a:lnSpc>
                  <a:spcPts val="3173"/>
                </a:lnSpc>
              </a:pPr>
              <a:r>
                <a:rPr lang="en-US" sz="2351">
                  <a:solidFill>
                    <a:srgbClr val="FFFFFF">
                      <a:alpha val="84706"/>
                    </a:srgbClr>
                  </a:solidFill>
                  <a:latin typeface="Roboto"/>
                  <a:ea typeface="Roboto"/>
                  <a:cs typeface="Roboto"/>
                  <a:sym typeface="Roboto"/>
                </a:rPr>
                <a:t>data uji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6440" y="1964519"/>
            <a:ext cx="10904986" cy="6467326"/>
          </a:xfrm>
          <a:custGeom>
            <a:avLst/>
            <a:gdLst/>
            <a:ahLst/>
            <a:cxnLst/>
            <a:rect r="r" b="b" t="t" l="l"/>
            <a:pathLst>
              <a:path h="6467326" w="10904986">
                <a:moveTo>
                  <a:pt x="0" y="0"/>
                </a:moveTo>
                <a:lnTo>
                  <a:pt x="10904986" y="0"/>
                </a:lnTo>
                <a:lnTo>
                  <a:pt x="10904986" y="6467326"/>
                </a:lnTo>
                <a:lnTo>
                  <a:pt x="0" y="6467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572" r="0" b="-155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56440" y="1964519"/>
            <a:ext cx="10795751" cy="6467326"/>
          </a:xfrm>
          <a:custGeom>
            <a:avLst/>
            <a:gdLst/>
            <a:ahLst/>
            <a:cxnLst/>
            <a:rect r="r" b="b" t="t" l="l"/>
            <a:pathLst>
              <a:path h="6467326" w="10795751">
                <a:moveTo>
                  <a:pt x="0" y="0"/>
                </a:moveTo>
                <a:lnTo>
                  <a:pt x="10795751" y="0"/>
                </a:lnTo>
                <a:lnTo>
                  <a:pt x="10795751" y="6467326"/>
                </a:lnTo>
                <a:lnTo>
                  <a:pt x="0" y="6467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5357" y="884286"/>
            <a:ext cx="5794759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spc="-324" b="true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Evaluasi </a:t>
            </a:r>
            <a:r>
              <a:rPr lang="en-US" sz="8101" spc="-324" b="true">
                <a:solidFill>
                  <a:srgbClr val="E8742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979" y="2135559"/>
            <a:ext cx="2532563" cy="3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496" spc="-49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Hasil pada data uji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9700" y="3453696"/>
            <a:ext cx="1360460" cy="42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R2 Score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5249" y="3896455"/>
            <a:ext cx="2805558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spc="-162" b="true">
                <a:solidFill>
                  <a:srgbClr val="E8742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0,6011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280" y="5532092"/>
            <a:ext cx="902475" cy="42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RMSE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9635" y="5944729"/>
            <a:ext cx="3366981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spc="-162" b="true">
                <a:solidFill>
                  <a:srgbClr val="E8742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348.880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6356" y="7490001"/>
            <a:ext cx="694914" cy="42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910" y="7932760"/>
            <a:ext cx="5639494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spc="-162" b="true">
                <a:solidFill>
                  <a:srgbClr val="E8742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1,217 x 10^11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6842" y="0"/>
            <a:ext cx="2187560" cy="10287000"/>
          </a:xfrm>
          <a:custGeom>
            <a:avLst/>
            <a:gdLst/>
            <a:ahLst/>
            <a:cxnLst/>
            <a:rect r="r" b="b" t="t" l="l"/>
            <a:pathLst>
              <a:path h="10287000" w="2187560">
                <a:moveTo>
                  <a:pt x="0" y="0"/>
                </a:moveTo>
                <a:lnTo>
                  <a:pt x="2187560" y="0"/>
                </a:lnTo>
                <a:lnTo>
                  <a:pt x="21875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45598" y="0"/>
            <a:ext cx="7842402" cy="10287000"/>
          </a:xfrm>
          <a:custGeom>
            <a:avLst/>
            <a:gdLst/>
            <a:ahLst/>
            <a:cxnLst/>
            <a:rect r="r" b="b" t="t" l="l"/>
            <a:pathLst>
              <a:path h="10287000" w="7842402">
                <a:moveTo>
                  <a:pt x="0" y="0"/>
                </a:moveTo>
                <a:lnTo>
                  <a:pt x="7842402" y="0"/>
                </a:lnTo>
                <a:lnTo>
                  <a:pt x="7842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0507" y="1281327"/>
            <a:ext cx="7634584" cy="1082267"/>
          </a:xfrm>
          <a:custGeom>
            <a:avLst/>
            <a:gdLst/>
            <a:ahLst/>
            <a:cxnLst/>
            <a:rect r="r" b="b" t="t" l="l"/>
            <a:pathLst>
              <a:path h="1082267" w="7634584">
                <a:moveTo>
                  <a:pt x="0" y="0"/>
                </a:moveTo>
                <a:lnTo>
                  <a:pt x="7634584" y="0"/>
                </a:lnTo>
                <a:lnTo>
                  <a:pt x="763458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0507" y="9258300"/>
            <a:ext cx="8717426" cy="229572"/>
          </a:xfrm>
          <a:custGeom>
            <a:avLst/>
            <a:gdLst/>
            <a:ahLst/>
            <a:cxnLst/>
            <a:rect r="r" b="b" t="t" l="l"/>
            <a:pathLst>
              <a:path h="229572" w="8717426">
                <a:moveTo>
                  <a:pt x="0" y="0"/>
                </a:moveTo>
                <a:lnTo>
                  <a:pt x="8717426" y="0"/>
                </a:lnTo>
                <a:lnTo>
                  <a:pt x="8717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6931" y="3251892"/>
            <a:ext cx="9738668" cy="479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400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Akurasi Model : Model bisa menjelaskan 60,11% variasi sampai mobil bekas</a:t>
            </a:r>
          </a:p>
          <a:p>
            <a:pPr algn="l">
              <a:lnSpc>
                <a:spcPts val="5406"/>
              </a:lnSpc>
            </a:pPr>
          </a:p>
          <a:p>
            <a:pPr algn="l">
              <a:lnSpc>
                <a:spcPts val="5406"/>
              </a:lnSpc>
            </a:pPr>
          </a:p>
          <a:p>
            <a:pPr algn="l">
              <a:lnSpc>
                <a:spcPts val="5409"/>
              </a:lnSpc>
              <a:spcBef>
                <a:spcPct val="0"/>
              </a:spcBef>
            </a:pPr>
            <a:r>
              <a:rPr lang="en-US" sz="400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RMSE : Nilai RMSE sebesar 348.880 termasuk cukup tinggi karena hampir setara dengan median seliing price (350.000)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DAHXIzzNFiw</dc:identifier>
  <dcterms:modified xsi:type="dcterms:W3CDTF">2011-08-01T06:04:30Z</dcterms:modified>
  <cp:revision>1</cp:revision>
  <dc:title>IntanFairuzNurAsiyah_2488010005</dc:title>
</cp:coreProperties>
</file>